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respected judges. Today we present InsureFlow—a full-stack enterprise insurance management system engineered to solve concurrent claim race conditions, opaque processing, and fragmented stakeholder workflows.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traditional insurance firms, when two adjusters approve claims on the same policy simultaneously, legacy databases overdraw the coverage cap. InsureFlow solves this along with fragmented silos and static spreadsheets.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connects a responsive React 18 frontend with a robust Spring Boot 3 micro-service backend. Security is strictly governed by stateless JWT tokens, and database integrity is preserved via JPA connection pooling.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key technical highlight. Using JPA Pessimistic Write Locks, InsureFlow serializes database access during adjudication. The remaining limit is locked, verified, and deducted atomically. Zero overdraw is mathematically guaranteed.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InsureFlow connects four key personas: The Underwriter provisions and risk-scores the policy; the Policyholder files claims; the Adjuster verifies physical evidence; and the Manager authorizes the payout with live concurrency locking.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live product features include a publicly accessible real-time tracker, an interactive actuarial risk scoring gauge, and automated electronic ACH wire settlement slips complete with cryptographic hashes and printable receipts.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InsureFlow delivers 70% faster claim settlements with zero financial overdraws. Our future roadmap introduces AI OCR and IoT telematics. We are now excited to demonstrate the live platform.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32720" cy="2011680"/>
          </a:xfrm>
          <a:prstGeom prst="rect">
            <a:avLst/>
          </a:prstGeom>
          <a:noFill/>
        </p:spPr>
        <p:txBody>
          <a:bodyPr wrap="none">
            <a:spAutoFit/>
          </a:bodyPr>
          <a:lstStyle/>
          <a:p>
            <a:pPr>
              <a:defRPr sz="5400" b="1">
                <a:solidFill>
                  <a:srgbClr val="38BDF8"/>
                </a:solidFill>
                <a:latin typeface="Arial"/>
              </a:defRPr>
            </a:pPr>
            <a:r>
              <a:t>InsureFlow</a:t>
            </a:r>
          </a:p>
          <a:p>
            <a:pPr>
              <a:spcBef>
                <a:spcPts val="1000"/>
              </a:spcBef>
              <a:defRPr sz="2200">
                <a:solidFill>
                  <a:srgbClr val="F8FAFC"/>
                </a:solidFill>
                <a:latin typeface="Arial"/>
              </a:defRPr>
            </a:pPr>
            <a:r>
              <a:t>Enterprise Next-Gen Insurance Lifecycle &amp; Concurrency-Safe Settlement Platform</a:t>
            </a:r>
          </a:p>
        </p:txBody>
      </p:sp>
      <p:sp>
        <p:nvSpPr>
          <p:cNvPr id="4" name="Rounded Rectangle 3"/>
          <p:cNvSpPr/>
          <p:nvPr/>
        </p:nvSpPr>
        <p:spPr>
          <a:xfrm>
            <a:off x="914400" y="3474720"/>
            <a:ext cx="3291840" cy="23774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8BDF8"/>
                </a:solidFill>
                <a:latin typeface="Arial"/>
              </a:defRPr>
            </a:pPr>
            <a:r>
              <a:t>🔒 Zero-Overdraw Guarantee</a:t>
            </a:r>
          </a:p>
          <a:p>
            <a:pPr>
              <a:spcAft>
                <a:spcPts val="600"/>
              </a:spcAft>
              <a:defRPr sz="1200">
                <a:solidFill>
                  <a:srgbClr val="94A3B8"/>
                </a:solidFill>
                <a:latin typeface="Arial"/>
              </a:defRPr>
            </a:pPr>
            <a:r>
              <a:t>• Transactional row serialization via JPA @Lock(PESSIMISTIC_WRITE)</a:t>
            </a:r>
          </a:p>
          <a:p>
            <a:pPr>
              <a:spcAft>
                <a:spcPts val="600"/>
              </a:spcAft>
              <a:defRPr sz="1200">
                <a:solidFill>
                  <a:srgbClr val="94A3B8"/>
                </a:solidFill>
                <a:latin typeface="Arial"/>
              </a:defRPr>
            </a:pPr>
            <a:r>
              <a:t>• Deducts dynamic capacity buffers atomically during settlement</a:t>
            </a:r>
          </a:p>
          <a:p>
            <a:pPr>
              <a:spcAft>
                <a:spcPts val="600"/>
              </a:spcAft>
              <a:defRPr sz="1200">
                <a:solidFill>
                  <a:srgbClr val="94A3B8"/>
                </a:solidFill>
                <a:latin typeface="Arial"/>
              </a:defRPr>
            </a:pPr>
            <a:r>
              <a:t>• Prevents multi-claim race condition over-disbursements</a:t>
            </a:r>
          </a:p>
        </p:txBody>
      </p:sp>
      <p:sp>
        <p:nvSpPr>
          <p:cNvPr id="5" name="Rounded Rectangle 4"/>
          <p:cNvSpPr/>
          <p:nvPr/>
        </p:nvSpPr>
        <p:spPr>
          <a:xfrm>
            <a:off x="4443984" y="3474720"/>
            <a:ext cx="3291840" cy="237744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4D399"/>
                </a:solidFill>
                <a:latin typeface="Arial"/>
              </a:defRPr>
            </a:pPr>
            <a:r>
              <a:t>⚡ 4-Role Unified Ecosystem</a:t>
            </a:r>
          </a:p>
          <a:p>
            <a:pPr>
              <a:spcAft>
                <a:spcPts val="600"/>
              </a:spcAft>
              <a:defRPr sz="1200">
                <a:solidFill>
                  <a:srgbClr val="94A3B8"/>
                </a:solidFill>
                <a:latin typeface="Arial"/>
              </a:defRPr>
            </a:pPr>
            <a:r>
              <a:t>• Dedicated workspaces: Policyholder, Underwriter, Adjuster &amp; Manager</a:t>
            </a:r>
          </a:p>
          <a:p>
            <a:pPr>
              <a:spcAft>
                <a:spcPts val="600"/>
              </a:spcAft>
              <a:defRPr sz="1200">
                <a:solidFill>
                  <a:srgbClr val="94A3B8"/>
                </a:solidFill>
                <a:latin typeface="Arial"/>
              </a:defRPr>
            </a:pPr>
            <a:r>
              <a:t>• Stateless JWT RBAC authorization with sub-28ms REST turnaround</a:t>
            </a:r>
          </a:p>
          <a:p>
            <a:pPr>
              <a:spcAft>
                <a:spcPts val="600"/>
              </a:spcAft>
              <a:defRPr sz="1200">
                <a:solidFill>
                  <a:srgbClr val="94A3B8"/>
                </a:solidFill>
                <a:latin typeface="Arial"/>
              </a:defRPr>
            </a:pPr>
            <a:r>
              <a:t>• Continuous digital handoff from intake to wire payout</a:t>
            </a:r>
          </a:p>
        </p:txBody>
      </p:sp>
      <p:sp>
        <p:nvSpPr>
          <p:cNvPr id="6" name="Rounded Rectangle 5"/>
          <p:cNvSpPr/>
          <p:nvPr/>
        </p:nvSpPr>
        <p:spPr>
          <a:xfrm>
            <a:off x="7982712" y="3474720"/>
            <a:ext cx="3291840" cy="237744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FBBF24"/>
                </a:solidFill>
                <a:latin typeface="Arial"/>
              </a:defRPr>
            </a:pPr>
            <a:r>
              <a:t>🌐 Real-Time Public Tracker</a:t>
            </a:r>
          </a:p>
          <a:p>
            <a:pPr>
              <a:spcAft>
                <a:spcPts val="600"/>
              </a:spcAft>
              <a:defRPr sz="1200">
                <a:solidFill>
                  <a:srgbClr val="94A3B8"/>
                </a:solidFill>
                <a:latin typeface="Arial"/>
              </a:defRPr>
            </a:pPr>
            <a:r>
              <a:t>• Instant live status lookup without authentication barriers</a:t>
            </a:r>
          </a:p>
          <a:p>
            <a:pPr>
              <a:spcAft>
                <a:spcPts val="600"/>
              </a:spcAft>
              <a:defRPr sz="1200">
                <a:solidFill>
                  <a:srgbClr val="94A3B8"/>
                </a:solidFill>
                <a:latin typeface="Arial"/>
              </a:defRPr>
            </a:pPr>
            <a:r>
              <a:t>• Actuarial risk scoring engine (0-100 score with risk tiers)</a:t>
            </a:r>
          </a:p>
          <a:p>
            <a:pPr>
              <a:spcAft>
                <a:spcPts val="600"/>
              </a:spcAft>
              <a:defRPr sz="1200">
                <a:solidFill>
                  <a:srgbClr val="94A3B8"/>
                </a:solidFill>
                <a:latin typeface="Arial"/>
              </a:defRPr>
            </a:pPr>
            <a:r>
              <a:t>• Printable electronic ACH wire settlement slips with hash seals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a:spAutoFit/>
          </a:bodyPr>
          <a:lstStyle/>
          <a:p>
            <a:pPr>
              <a:defRPr sz="1100" b="1">
                <a:solidFill>
                  <a:srgbClr val="38BDF8"/>
                </a:solidFill>
                <a:latin typeface="Arial"/>
              </a:defRPr>
            </a:pPr>
            <a:r>
              <a:t>  PROBLEM STATEMENT  </a:t>
            </a:r>
          </a:p>
        </p:txBody>
      </p:sp>
      <p:sp>
        <p:nvSpPr>
          <p:cNvPr id="4" name="TextBox 3"/>
          <p:cNvSpPr txBox="1"/>
          <p:nvPr/>
        </p:nvSpPr>
        <p:spPr>
          <a:xfrm>
            <a:off x="731520" y="777240"/>
            <a:ext cx="10698480" cy="731520"/>
          </a:xfrm>
          <a:prstGeom prst="rect">
            <a:avLst/>
          </a:prstGeom>
          <a:noFill/>
        </p:spPr>
        <p:txBody>
          <a:bodyPr wrap="square">
            <a:spAutoFit/>
          </a:bodyPr>
          <a:lstStyle/>
          <a:p>
            <a:pPr>
              <a:defRPr sz="2800" b="1">
                <a:solidFill>
                  <a:srgbClr val="F8FAFC"/>
                </a:solidFill>
                <a:latin typeface="Arial"/>
              </a:defRPr>
            </a:pPr>
            <a:r>
              <a:t>Critical Gaps in Traditional Insurance Operations</a:t>
            </a:r>
          </a:p>
        </p:txBody>
      </p:sp>
      <p:sp>
        <p:nvSpPr>
          <p:cNvPr id="5" name="TextBox 4"/>
          <p:cNvSpPr txBox="1"/>
          <p:nvPr/>
        </p:nvSpPr>
        <p:spPr>
          <a:xfrm>
            <a:off x="731520" y="1463040"/>
            <a:ext cx="10698480" cy="548640"/>
          </a:xfrm>
          <a:prstGeom prst="rect">
            <a:avLst/>
          </a:prstGeom>
          <a:noFill/>
        </p:spPr>
        <p:txBody>
          <a:bodyPr wrap="square">
            <a:spAutoFit/>
          </a:bodyPr>
          <a:lstStyle/>
          <a:p>
            <a:pPr>
              <a:defRPr sz="1400">
                <a:solidFill>
                  <a:srgbClr val="94A3B8"/>
                </a:solidFill>
                <a:latin typeface="Arial"/>
              </a:defRPr>
            </a:pPr>
            <a:r>
              <a:t>Legacy enterprise insurance platforms suffer from financial exposure, slow turnaround, and lack of transparency.</a:t>
            </a:r>
          </a:p>
        </p:txBody>
      </p:sp>
      <p:sp>
        <p:nvSpPr>
          <p:cNvPr id="6" name="Rounded Rectangle 5"/>
          <p:cNvSpPr/>
          <p:nvPr/>
        </p:nvSpPr>
        <p:spPr>
          <a:xfrm>
            <a:off x="731520" y="2194560"/>
            <a:ext cx="5120640" cy="1920240"/>
          </a:xfrm>
          <a:prstGeom prst="roundRect">
            <a:avLst/>
          </a:prstGeom>
          <a:solidFill>
            <a:srgbClr val="1E293B"/>
          </a:solidFill>
          <a:ln w="1905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FB7185"/>
                </a:solidFill>
                <a:latin typeface="Arial"/>
              </a:defRPr>
            </a:pPr>
            <a:r>
              <a:t>1. Concurrent Payout Race Conditions</a:t>
            </a:r>
          </a:p>
          <a:p>
            <a:pPr>
              <a:spcAft>
                <a:spcPts val="600"/>
              </a:spcAft>
              <a:defRPr sz="1200">
                <a:solidFill>
                  <a:srgbClr val="94A3B8"/>
                </a:solidFill>
                <a:latin typeface="Arial"/>
              </a:defRPr>
            </a:pPr>
            <a:r>
              <a:t>• When multiple claims are approved simultaneously against a single policy, databases experience phantom reads.</a:t>
            </a:r>
          </a:p>
          <a:p>
            <a:pPr>
              <a:spcAft>
                <a:spcPts val="600"/>
              </a:spcAft>
              <a:defRPr sz="1200">
                <a:solidFill>
                  <a:srgbClr val="94A3B8"/>
                </a:solidFill>
                <a:latin typeface="Arial"/>
              </a:defRPr>
            </a:pPr>
            <a:r>
              <a:t>• Overdraws exceed policy coverage limits, leading to catastrophic financial loss.</a:t>
            </a:r>
          </a:p>
        </p:txBody>
      </p:sp>
      <p:sp>
        <p:nvSpPr>
          <p:cNvPr id="7" name="Rounded Rectangle 6"/>
          <p:cNvSpPr/>
          <p:nvPr/>
        </p:nvSpPr>
        <p:spPr>
          <a:xfrm>
            <a:off x="6309360" y="2194560"/>
            <a:ext cx="5120640" cy="192024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FBBF24"/>
                </a:solidFill>
                <a:latin typeface="Arial"/>
              </a:defRPr>
            </a:pPr>
            <a:r>
              <a:t>2. Fragmented Stakeholder Silos</a:t>
            </a:r>
          </a:p>
          <a:p>
            <a:pPr>
              <a:spcAft>
                <a:spcPts val="600"/>
              </a:spcAft>
              <a:defRPr sz="1200">
                <a:solidFill>
                  <a:srgbClr val="94A3B8"/>
                </a:solidFill>
                <a:latin typeface="Arial"/>
              </a:defRPr>
            </a:pPr>
            <a:r>
              <a:t>• Policyholders, underwriters, field adjusters, and managers use disconnected systems.</a:t>
            </a:r>
          </a:p>
          <a:p>
            <a:pPr>
              <a:spcAft>
                <a:spcPts val="600"/>
              </a:spcAft>
              <a:defRPr sz="1200">
                <a:solidFill>
                  <a:srgbClr val="94A3B8"/>
                </a:solidFill>
                <a:latin typeface="Arial"/>
              </a:defRPr>
            </a:pPr>
            <a:r>
              <a:t>• Average claim turnaround exceeds 30+ days due to manual handoffs.</a:t>
            </a:r>
          </a:p>
        </p:txBody>
      </p:sp>
      <p:sp>
        <p:nvSpPr>
          <p:cNvPr id="8" name="Rounded Rectangle 7"/>
          <p:cNvSpPr/>
          <p:nvPr/>
        </p:nvSpPr>
        <p:spPr>
          <a:xfrm>
            <a:off x="731520" y="4297680"/>
            <a:ext cx="5120640" cy="19202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8BDF8"/>
                </a:solidFill>
                <a:latin typeface="Arial"/>
              </a:defRPr>
            </a:pPr>
            <a:r>
              <a:t>3. Static Actuarial Risk Scoring</a:t>
            </a:r>
          </a:p>
          <a:p>
            <a:pPr>
              <a:spcAft>
                <a:spcPts val="600"/>
              </a:spcAft>
              <a:defRPr sz="1200">
                <a:solidFill>
                  <a:srgbClr val="94A3B8"/>
                </a:solidFill>
                <a:latin typeface="Arial"/>
              </a:defRPr>
            </a:pPr>
            <a:r>
              <a:t>• Risk evaluations are performed manually on spreadsheets without dynamic rate calibration.</a:t>
            </a:r>
          </a:p>
          <a:p>
            <a:pPr>
              <a:spcAft>
                <a:spcPts val="600"/>
              </a:spcAft>
              <a:defRPr sz="1200">
                <a:solidFill>
                  <a:srgbClr val="94A3B8"/>
                </a:solidFill>
                <a:latin typeface="Arial"/>
              </a:defRPr>
            </a:pPr>
            <a:r>
              <a:t>• Inability to factor in real-time medical, hazard, and claim histories.</a:t>
            </a:r>
          </a:p>
        </p:txBody>
      </p:sp>
      <p:sp>
        <p:nvSpPr>
          <p:cNvPr id="9" name="Rounded Rectangle 8"/>
          <p:cNvSpPr/>
          <p:nvPr/>
        </p:nvSpPr>
        <p:spPr>
          <a:xfrm>
            <a:off x="6309360" y="4297680"/>
            <a:ext cx="5120640" cy="192024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4D399"/>
                </a:solidFill>
                <a:latin typeface="Arial"/>
              </a:defRPr>
            </a:pPr>
            <a:r>
              <a:t>4. Opaque Customer Experience</a:t>
            </a:r>
          </a:p>
          <a:p>
            <a:pPr>
              <a:spcAft>
                <a:spcPts val="600"/>
              </a:spcAft>
              <a:defRPr sz="1200">
                <a:solidFill>
                  <a:srgbClr val="94A3B8"/>
                </a:solidFill>
                <a:latin typeface="Arial"/>
              </a:defRPr>
            </a:pPr>
            <a:r>
              <a:t>• Policyholders have zero visibility into dynamic remaining coverage limits.</a:t>
            </a:r>
          </a:p>
          <a:p>
            <a:pPr>
              <a:spcAft>
                <a:spcPts val="600"/>
              </a:spcAft>
              <a:defRPr sz="1200">
                <a:solidFill>
                  <a:srgbClr val="94A3B8"/>
                </a:solidFill>
                <a:latin typeface="Arial"/>
              </a:defRPr>
            </a:pPr>
            <a:r>
              <a:t>• No real-time self-service tracking for loss notice status.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a:spAutoFit/>
          </a:bodyPr>
          <a:lstStyle/>
          <a:p>
            <a:pPr>
              <a:defRPr sz="1100" b="1">
                <a:solidFill>
                  <a:srgbClr val="38BDF8"/>
                </a:solidFill>
                <a:latin typeface="Arial"/>
              </a:defRPr>
            </a:pPr>
            <a:r>
              <a:t>  SYSTEM ARCHITECTURE  </a:t>
            </a:r>
          </a:p>
        </p:txBody>
      </p:sp>
      <p:sp>
        <p:nvSpPr>
          <p:cNvPr id="4" name="TextBox 3"/>
          <p:cNvSpPr txBox="1"/>
          <p:nvPr/>
        </p:nvSpPr>
        <p:spPr>
          <a:xfrm>
            <a:off x="731520" y="777240"/>
            <a:ext cx="10698480" cy="731520"/>
          </a:xfrm>
          <a:prstGeom prst="rect">
            <a:avLst/>
          </a:prstGeom>
          <a:noFill/>
        </p:spPr>
        <p:txBody>
          <a:bodyPr wrap="square">
            <a:spAutoFit/>
          </a:bodyPr>
          <a:lstStyle/>
          <a:p>
            <a:pPr>
              <a:defRPr sz="2800" b="1">
                <a:solidFill>
                  <a:srgbClr val="F8FAFC"/>
                </a:solidFill>
                <a:latin typeface="Arial"/>
              </a:defRPr>
            </a:pPr>
            <a:r>
              <a:t>Modern Decoupled Full-Stack Engineering</a:t>
            </a:r>
          </a:p>
        </p:txBody>
      </p:sp>
      <p:sp>
        <p:nvSpPr>
          <p:cNvPr id="5" name="TextBox 4"/>
          <p:cNvSpPr txBox="1"/>
          <p:nvPr/>
        </p:nvSpPr>
        <p:spPr>
          <a:xfrm>
            <a:off x="731520" y="1463040"/>
            <a:ext cx="10698480" cy="548640"/>
          </a:xfrm>
          <a:prstGeom prst="rect">
            <a:avLst/>
          </a:prstGeom>
          <a:noFill/>
        </p:spPr>
        <p:txBody>
          <a:bodyPr wrap="square">
            <a:spAutoFit/>
          </a:bodyPr>
          <a:lstStyle/>
          <a:p>
            <a:pPr>
              <a:defRPr sz="1400">
                <a:solidFill>
                  <a:srgbClr val="94A3B8"/>
                </a:solidFill>
                <a:latin typeface="Arial"/>
              </a:defRPr>
            </a:pPr>
            <a:r>
              <a:t>Built on industry-proven enterprise standards for high concurrency, security, and low latency.</a:t>
            </a:r>
          </a:p>
        </p:txBody>
      </p:sp>
      <p:sp>
        <p:nvSpPr>
          <p:cNvPr id="6" name="Rounded Rectangle 5"/>
          <p:cNvSpPr/>
          <p:nvPr/>
        </p:nvSpPr>
        <p:spPr>
          <a:xfrm>
            <a:off x="731520" y="2194560"/>
            <a:ext cx="3291840" cy="40233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8BDF8"/>
                </a:solidFill>
                <a:latin typeface="Arial"/>
              </a:defRPr>
            </a:pPr>
            <a:r>
              <a:t>⚛️ Frontend Tier</a:t>
            </a:r>
          </a:p>
          <a:p>
            <a:pPr>
              <a:spcAft>
                <a:spcPts val="600"/>
              </a:spcAft>
              <a:defRPr sz="1200">
                <a:solidFill>
                  <a:srgbClr val="94A3B8"/>
                </a:solidFill>
                <a:latin typeface="Arial"/>
              </a:defRPr>
            </a:pPr>
            <a:r>
              <a:t>• React 18 &amp; Vite Single Page Application</a:t>
            </a:r>
          </a:p>
          <a:p>
            <a:pPr>
              <a:spcAft>
                <a:spcPts val="600"/>
              </a:spcAft>
              <a:defRPr sz="1200">
                <a:solidFill>
                  <a:srgbClr val="94A3B8"/>
                </a:solidFill>
                <a:latin typeface="Arial"/>
              </a:defRPr>
            </a:pPr>
            <a:r>
              <a:t>• Modern Glassmorphism Design System</a:t>
            </a:r>
          </a:p>
          <a:p>
            <a:pPr>
              <a:spcAft>
                <a:spcPts val="600"/>
              </a:spcAft>
              <a:defRPr sz="1200">
                <a:solidFill>
                  <a:srgbClr val="94A3B8"/>
                </a:solidFill>
                <a:latin typeface="Arial"/>
              </a:defRPr>
            </a:pPr>
            <a:r>
              <a:t>• Live Dynamic Capacity Buffer visualizers (₹)</a:t>
            </a:r>
          </a:p>
          <a:p>
            <a:pPr>
              <a:spcAft>
                <a:spcPts val="600"/>
              </a:spcAft>
              <a:defRPr sz="1200">
                <a:solidFill>
                  <a:srgbClr val="94A3B8"/>
                </a:solidFill>
                <a:latin typeface="Arial"/>
              </a:defRPr>
            </a:pPr>
            <a:r>
              <a:t>• 1-Click Role Persona switcher for seamless demoing</a:t>
            </a:r>
          </a:p>
          <a:p>
            <a:pPr>
              <a:spcAft>
                <a:spcPts val="600"/>
              </a:spcAft>
              <a:defRPr sz="1200">
                <a:solidFill>
                  <a:srgbClr val="94A3B8"/>
                </a:solidFill>
                <a:latin typeface="Arial"/>
              </a:defRPr>
            </a:pPr>
            <a:r>
              <a:t>• Printable ACH Wire Settlement Receipts</a:t>
            </a:r>
          </a:p>
          <a:p>
            <a:pPr>
              <a:spcAft>
                <a:spcPts val="600"/>
              </a:spcAft>
              <a:defRPr sz="1200">
                <a:solidFill>
                  <a:srgbClr val="94A3B8"/>
                </a:solidFill>
                <a:latin typeface="Arial"/>
              </a:defRPr>
            </a:pPr>
            <a:r>
              <a:t>• Confetti celebration on electronic execution</a:t>
            </a:r>
          </a:p>
        </p:txBody>
      </p:sp>
      <p:sp>
        <p:nvSpPr>
          <p:cNvPr id="7" name="Rounded Rectangle 6"/>
          <p:cNvSpPr/>
          <p:nvPr/>
        </p:nvSpPr>
        <p:spPr>
          <a:xfrm>
            <a:off x="4443984" y="2194560"/>
            <a:ext cx="3291840" cy="40233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4D399"/>
                </a:solidFill>
                <a:latin typeface="Arial"/>
              </a:defRPr>
            </a:pPr>
            <a:r>
              <a:t>☕ Backend API Tier</a:t>
            </a:r>
          </a:p>
          <a:p>
            <a:pPr>
              <a:spcAft>
                <a:spcPts val="600"/>
              </a:spcAft>
              <a:defRPr sz="1200">
                <a:solidFill>
                  <a:srgbClr val="94A3B8"/>
                </a:solidFill>
                <a:latin typeface="Arial"/>
              </a:defRPr>
            </a:pPr>
            <a:r>
              <a:t>• Spring Boot 3 &amp; Java 17 LTS</a:t>
            </a:r>
          </a:p>
          <a:p>
            <a:pPr>
              <a:spcAft>
                <a:spcPts val="600"/>
              </a:spcAft>
              <a:defRPr sz="1200">
                <a:solidFill>
                  <a:srgbClr val="94A3B8"/>
                </a:solidFill>
                <a:latin typeface="Arial"/>
              </a:defRPr>
            </a:pPr>
            <a:r>
              <a:t>• Spring Security 6 with stateless JWT</a:t>
            </a:r>
          </a:p>
          <a:p>
            <a:pPr>
              <a:spcAft>
                <a:spcPts val="600"/>
              </a:spcAft>
              <a:defRPr sz="1200">
                <a:solidFill>
                  <a:srgbClr val="94A3B8"/>
                </a:solidFill>
                <a:latin typeface="Arial"/>
              </a:defRPr>
            </a:pPr>
            <a:r>
              <a:t>• HS256 cryptographic token validation</a:t>
            </a:r>
          </a:p>
          <a:p>
            <a:pPr>
              <a:spcAft>
                <a:spcPts val="600"/>
              </a:spcAft>
              <a:defRPr sz="1200">
                <a:solidFill>
                  <a:srgbClr val="94A3B8"/>
                </a:solidFill>
                <a:latin typeface="Arial"/>
              </a:defRPr>
            </a:pPr>
            <a:r>
              <a:t>• Role-Based Access Control (4 Roles)</a:t>
            </a:r>
          </a:p>
          <a:p>
            <a:pPr>
              <a:spcAft>
                <a:spcPts val="600"/>
              </a:spcAft>
              <a:defRPr sz="1200">
                <a:solidFill>
                  <a:srgbClr val="94A3B8"/>
                </a:solidFill>
                <a:latin typeface="Arial"/>
              </a:defRPr>
            </a:pPr>
            <a:r>
              <a:t>• Optimized REST API (&lt;28ms latency)</a:t>
            </a:r>
          </a:p>
          <a:p>
            <a:pPr>
              <a:spcAft>
                <a:spcPts val="600"/>
              </a:spcAft>
              <a:defRPr sz="1200">
                <a:solidFill>
                  <a:srgbClr val="94A3B8"/>
                </a:solidFill>
                <a:latin typeface="Arial"/>
              </a:defRPr>
            </a:pPr>
            <a:r>
              <a:t>• Automated Actuarial Loss Ratio monitoring</a:t>
            </a:r>
          </a:p>
        </p:txBody>
      </p:sp>
      <p:sp>
        <p:nvSpPr>
          <p:cNvPr id="8" name="Rounded Rectangle 7"/>
          <p:cNvSpPr/>
          <p:nvPr/>
        </p:nvSpPr>
        <p:spPr>
          <a:xfrm>
            <a:off x="7982712" y="2194560"/>
            <a:ext cx="3291840" cy="402336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FBBF24"/>
                </a:solidFill>
                <a:latin typeface="Arial"/>
              </a:defRPr>
            </a:pPr>
            <a:r>
              <a:t>🗄️ Persistence &amp; Lock Tier</a:t>
            </a:r>
          </a:p>
          <a:p>
            <a:pPr>
              <a:spcAft>
                <a:spcPts val="600"/>
              </a:spcAft>
              <a:defRPr sz="1200">
                <a:solidFill>
                  <a:srgbClr val="94A3B8"/>
                </a:solidFill>
                <a:latin typeface="Arial"/>
              </a:defRPr>
            </a:pPr>
            <a:r>
              <a:t>• Spring Data JPA &amp; Hibernate ORM</a:t>
            </a:r>
          </a:p>
          <a:p>
            <a:pPr>
              <a:spcAft>
                <a:spcPts val="600"/>
              </a:spcAft>
              <a:defRPr sz="1200">
                <a:solidFill>
                  <a:srgbClr val="94A3B8"/>
                </a:solidFill>
                <a:latin typeface="Arial"/>
              </a:defRPr>
            </a:pPr>
            <a:r>
              <a:t>• HikariCP high-performance connection pool</a:t>
            </a:r>
          </a:p>
          <a:p>
            <a:pPr>
              <a:spcAft>
                <a:spcPts val="600"/>
              </a:spcAft>
              <a:defRPr sz="1200">
                <a:solidFill>
                  <a:srgbClr val="94A3B8"/>
                </a:solidFill>
                <a:latin typeface="Arial"/>
              </a:defRPr>
            </a:pPr>
            <a:r>
              <a:t>• Pessimistic Row-Level Write Serialization</a:t>
            </a:r>
          </a:p>
          <a:p>
            <a:pPr>
              <a:spcAft>
                <a:spcPts val="600"/>
              </a:spcAft>
              <a:defRPr sz="1200">
                <a:solidFill>
                  <a:srgbClr val="94A3B8"/>
                </a:solidFill>
                <a:latin typeface="Arial"/>
              </a:defRPr>
            </a:pPr>
            <a:r>
              <a:t>• Relational Integrity with Cascade Purging</a:t>
            </a:r>
          </a:p>
          <a:p>
            <a:pPr>
              <a:spcAft>
                <a:spcPts val="600"/>
              </a:spcAft>
              <a:defRPr sz="1200">
                <a:solidFill>
                  <a:srgbClr val="94A3B8"/>
                </a:solidFill>
                <a:latin typeface="Arial"/>
              </a:defRPr>
            </a:pPr>
            <a:r>
              <a:t>• ACID Transactional Rollback guarantee</a:t>
            </a:r>
          </a:p>
          <a:p>
            <a:pPr>
              <a:spcAft>
                <a:spcPts val="600"/>
              </a:spcAft>
              <a:defRPr sz="1200">
                <a:solidFill>
                  <a:srgbClr val="94A3B8"/>
                </a:solidFill>
                <a:latin typeface="Arial"/>
              </a:defRPr>
            </a:pPr>
            <a:r>
              <a:t>• Zero data corruption under concurrent load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a:spAutoFit/>
          </a:bodyPr>
          <a:lstStyle/>
          <a:p>
            <a:pPr>
              <a:defRPr sz="1100" b="1">
                <a:solidFill>
                  <a:srgbClr val="38BDF8"/>
                </a:solidFill>
                <a:latin typeface="Arial"/>
              </a:defRPr>
            </a:pPr>
            <a:r>
              <a:t>  CORE INNOVATION  </a:t>
            </a:r>
          </a:p>
        </p:txBody>
      </p:sp>
      <p:sp>
        <p:nvSpPr>
          <p:cNvPr id="4" name="TextBox 3"/>
          <p:cNvSpPr txBox="1"/>
          <p:nvPr/>
        </p:nvSpPr>
        <p:spPr>
          <a:xfrm>
            <a:off x="731520" y="777240"/>
            <a:ext cx="10698480" cy="731520"/>
          </a:xfrm>
          <a:prstGeom prst="rect">
            <a:avLst/>
          </a:prstGeom>
          <a:noFill/>
        </p:spPr>
        <p:txBody>
          <a:bodyPr wrap="square">
            <a:spAutoFit/>
          </a:bodyPr>
          <a:lstStyle/>
          <a:p>
            <a:pPr>
              <a:defRPr sz="2800" b="1">
                <a:solidFill>
                  <a:srgbClr val="F8FAFC"/>
                </a:solidFill>
                <a:latin typeface="Arial"/>
              </a:defRPr>
            </a:pPr>
            <a:r>
              <a:t>Pessimistic Concurrency Engine &amp; Zero-Overdraw</a:t>
            </a:r>
          </a:p>
        </p:txBody>
      </p:sp>
      <p:sp>
        <p:nvSpPr>
          <p:cNvPr id="5" name="TextBox 4"/>
          <p:cNvSpPr txBox="1"/>
          <p:nvPr/>
        </p:nvSpPr>
        <p:spPr>
          <a:xfrm>
            <a:off x="731520" y="1463040"/>
            <a:ext cx="10698480" cy="548640"/>
          </a:xfrm>
          <a:prstGeom prst="rect">
            <a:avLst/>
          </a:prstGeom>
          <a:noFill/>
        </p:spPr>
        <p:txBody>
          <a:bodyPr wrap="square">
            <a:spAutoFit/>
          </a:bodyPr>
          <a:lstStyle/>
          <a:p>
            <a:pPr>
              <a:defRPr sz="1400">
                <a:solidFill>
                  <a:srgbClr val="94A3B8"/>
                </a:solidFill>
                <a:latin typeface="Arial"/>
              </a:defRPr>
            </a:pPr>
            <a:r>
              <a:t>How InsureFlow eliminates race conditions during simultaneous claim settlements.</a:t>
            </a:r>
          </a:p>
        </p:txBody>
      </p:sp>
      <p:sp>
        <p:nvSpPr>
          <p:cNvPr id="6" name="Rounded Rectangle 5"/>
          <p:cNvSpPr/>
          <p:nvPr/>
        </p:nvSpPr>
        <p:spPr>
          <a:xfrm>
            <a:off x="731520" y="2194560"/>
            <a:ext cx="5120640" cy="40233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8BDF8"/>
                </a:solidFill>
                <a:latin typeface="Arial"/>
              </a:defRPr>
            </a:pPr>
            <a:r>
              <a:t>🔒 Database Row Serialization</a:t>
            </a:r>
          </a:p>
          <a:p>
            <a:pPr>
              <a:spcAft>
                <a:spcPts val="600"/>
              </a:spcAft>
              <a:defRPr sz="1200">
                <a:solidFill>
                  <a:srgbClr val="94A3B8"/>
                </a:solidFill>
                <a:latin typeface="Arial"/>
              </a:defRPr>
            </a:pPr>
            <a:r>
              <a:t>• Employs JPA @Lock(LockModeType.PESSIMISTIC_WRITE) on policy row during claim adjudication.</a:t>
            </a:r>
          </a:p>
          <a:p>
            <a:pPr>
              <a:spcAft>
                <a:spcPts val="600"/>
              </a:spcAft>
              <a:defRPr sz="1200">
                <a:solidFill>
                  <a:srgbClr val="94A3B8"/>
                </a:solidFill>
                <a:latin typeface="Arial"/>
              </a:defRPr>
            </a:pPr>
            <a:r>
              <a:t>• Locks the insurance policy record at the database level so concurrent threads must wait.</a:t>
            </a:r>
          </a:p>
          <a:p>
            <a:pPr>
              <a:spcAft>
                <a:spcPts val="600"/>
              </a:spcAft>
              <a:defRPr sz="1200">
                <a:solidFill>
                  <a:srgbClr val="94A3B8"/>
                </a:solidFill>
                <a:latin typeface="Arial"/>
              </a:defRPr>
            </a:pPr>
            <a:r>
              <a:t>• Prevents dirty reads, non-repeatable reads, and phantom updates.</a:t>
            </a:r>
          </a:p>
          <a:p>
            <a:pPr>
              <a:spcAft>
                <a:spcPts val="600"/>
              </a:spcAft>
              <a:defRPr sz="1200">
                <a:solidFill>
                  <a:srgbClr val="94A3B8"/>
                </a:solidFill>
                <a:latin typeface="Arial"/>
              </a:defRPr>
            </a:pPr>
            <a:r>
              <a:t>• Deducts approved payout directly from remainingLimit inside atomic transaction boundary.</a:t>
            </a:r>
          </a:p>
          <a:p>
            <a:pPr>
              <a:spcAft>
                <a:spcPts val="600"/>
              </a:spcAft>
              <a:defRPr sz="1200">
                <a:solidFill>
                  <a:srgbClr val="94A3B8"/>
                </a:solidFill>
                <a:latin typeface="Arial"/>
              </a:defRPr>
            </a:pPr>
            <a:r>
              <a:t>• Guarantees that policy remaining capacity never falls below ₹0.00.</a:t>
            </a:r>
          </a:p>
        </p:txBody>
      </p:sp>
      <p:sp>
        <p:nvSpPr>
          <p:cNvPr id="7" name="Rounded Rectangle 6"/>
          <p:cNvSpPr/>
          <p:nvPr/>
        </p:nvSpPr>
        <p:spPr>
          <a:xfrm>
            <a:off x="6309360" y="2194560"/>
            <a:ext cx="5120640" cy="40233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4D399"/>
                </a:solidFill>
                <a:latin typeface="Arial"/>
              </a:defRPr>
            </a:pPr>
            <a:r>
              <a:t>⚡ 4-Step Settlement Lifecycle</a:t>
            </a:r>
          </a:p>
          <a:p>
            <a:pPr>
              <a:spcAft>
                <a:spcPts val="600"/>
              </a:spcAft>
              <a:defRPr sz="1200">
                <a:solidFill>
                  <a:srgbClr val="94A3B8"/>
                </a:solidFill>
                <a:latin typeface="Arial"/>
              </a:defRPr>
            </a:pPr>
            <a:r>
              <a:t>• 1. Thread Lock: Manager initiates approval -&gt; acquires exclusive row lock on target policy.</a:t>
            </a:r>
          </a:p>
          <a:p>
            <a:pPr>
              <a:spcAft>
                <a:spcPts val="600"/>
              </a:spcAft>
              <a:defRPr sz="1200">
                <a:solidFill>
                  <a:srgbClr val="94A3B8"/>
                </a:solidFill>
                <a:latin typeface="Arial"/>
              </a:defRPr>
            </a:pPr>
            <a:r>
              <a:t>• 2. Capacity Verification: Validates requested amount &lt;= remainingLimit buffer.</a:t>
            </a:r>
          </a:p>
          <a:p>
            <a:pPr>
              <a:spcAft>
                <a:spcPts val="600"/>
              </a:spcAft>
              <a:defRPr sz="1200">
                <a:solidFill>
                  <a:srgbClr val="94A3B8"/>
                </a:solidFill>
                <a:latin typeface="Arial"/>
              </a:defRPr>
            </a:pPr>
            <a:r>
              <a:t>• 3. Atomic Deduction: Updates remainingLimit = remainingLimit - payout and saves.</a:t>
            </a:r>
          </a:p>
          <a:p>
            <a:pPr>
              <a:spcAft>
                <a:spcPts val="600"/>
              </a:spcAft>
              <a:defRPr sz="1200">
                <a:solidFill>
                  <a:srgbClr val="94A3B8"/>
                </a:solidFill>
                <a:latin typeface="Arial"/>
              </a:defRPr>
            </a:pPr>
            <a:r>
              <a:t>• 4. Auto-Disbursement: Schedules ACH electronic bank wire transfer with masked account ID.</a:t>
            </a:r>
          </a:p>
          <a:p>
            <a:pPr>
              <a:spcAft>
                <a:spcPts val="600"/>
              </a:spcAft>
              <a:defRPr sz="1200">
                <a:solidFill>
                  <a:srgbClr val="94A3B8"/>
                </a:solidFill>
                <a:latin typeface="Arial"/>
              </a:defRPr>
            </a:pPr>
            <a:r>
              <a:t>• 5. Concurrency Modal: Interactive UI displaying live database serialization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a:spAutoFit/>
          </a:bodyPr>
          <a:lstStyle/>
          <a:p>
            <a:pPr>
              <a:defRPr sz="1100" b="1">
                <a:solidFill>
                  <a:srgbClr val="38BDF8"/>
                </a:solidFill>
                <a:latin typeface="Arial"/>
              </a:defRPr>
            </a:pPr>
            <a:r>
              <a:t>  USER WORKFLOWS  </a:t>
            </a:r>
          </a:p>
        </p:txBody>
      </p:sp>
      <p:sp>
        <p:nvSpPr>
          <p:cNvPr id="4" name="TextBox 3"/>
          <p:cNvSpPr txBox="1"/>
          <p:nvPr/>
        </p:nvSpPr>
        <p:spPr>
          <a:xfrm>
            <a:off x="731520" y="777240"/>
            <a:ext cx="10698480" cy="731520"/>
          </a:xfrm>
          <a:prstGeom prst="rect">
            <a:avLst/>
          </a:prstGeom>
          <a:noFill/>
        </p:spPr>
        <p:txBody>
          <a:bodyPr wrap="square">
            <a:spAutoFit/>
          </a:bodyPr>
          <a:lstStyle/>
          <a:p>
            <a:pPr>
              <a:defRPr sz="2800" b="1">
                <a:solidFill>
                  <a:srgbClr val="F8FAFC"/>
                </a:solidFill>
                <a:latin typeface="Arial"/>
              </a:defRPr>
            </a:pPr>
            <a:r>
              <a:t>4 Specialized Role Ecosystems</a:t>
            </a:r>
          </a:p>
        </p:txBody>
      </p:sp>
      <p:sp>
        <p:nvSpPr>
          <p:cNvPr id="5" name="TextBox 4"/>
          <p:cNvSpPr txBox="1"/>
          <p:nvPr/>
        </p:nvSpPr>
        <p:spPr>
          <a:xfrm>
            <a:off x="731520" y="1463040"/>
            <a:ext cx="10698480" cy="548640"/>
          </a:xfrm>
          <a:prstGeom prst="rect">
            <a:avLst/>
          </a:prstGeom>
          <a:noFill/>
        </p:spPr>
        <p:txBody>
          <a:bodyPr wrap="square">
            <a:spAutoFit/>
          </a:bodyPr>
          <a:lstStyle/>
          <a:p>
            <a:pPr>
              <a:defRPr sz="1400">
                <a:solidFill>
                  <a:srgbClr val="94A3B8"/>
                </a:solidFill>
                <a:latin typeface="Arial"/>
              </a:defRPr>
            </a:pPr>
            <a:r>
              <a:t>Seamless collaboration and security boundaries across all insurance lifecycle phases.</a:t>
            </a:r>
          </a:p>
        </p:txBody>
      </p:sp>
      <p:sp>
        <p:nvSpPr>
          <p:cNvPr id="6" name="Rounded Rectangle 5"/>
          <p:cNvSpPr/>
          <p:nvPr/>
        </p:nvSpPr>
        <p:spPr>
          <a:xfrm>
            <a:off x="731520" y="2194560"/>
            <a:ext cx="2468880" cy="40233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8BDF8"/>
                </a:solidFill>
                <a:latin typeface="Arial"/>
              </a:defRPr>
            </a:pPr>
            <a:r>
              <a:t>🛡️ Policyholder</a:t>
            </a:r>
          </a:p>
          <a:p>
            <a:pPr>
              <a:spcAft>
                <a:spcPts val="600"/>
              </a:spcAft>
              <a:defRPr sz="1200">
                <a:solidFill>
                  <a:srgbClr val="94A3B8"/>
                </a:solidFill>
                <a:latin typeface="Arial"/>
              </a:defRPr>
            </a:pPr>
            <a:r>
              <a:t>• Files loss incident notices</a:t>
            </a:r>
          </a:p>
          <a:p>
            <a:pPr>
              <a:spcAft>
                <a:spcPts val="600"/>
              </a:spcAft>
              <a:defRPr sz="1200">
                <a:solidFill>
                  <a:srgbClr val="94A3B8"/>
                </a:solidFill>
                <a:latin typeface="Arial"/>
              </a:defRPr>
            </a:pPr>
            <a:r>
              <a:t>• Monitors dynamic remaining buffer</a:t>
            </a:r>
          </a:p>
          <a:p>
            <a:pPr>
              <a:spcAft>
                <a:spcPts val="600"/>
              </a:spcAft>
              <a:defRPr sz="1200">
                <a:solidFill>
                  <a:srgbClr val="94A3B8"/>
                </a:solidFill>
                <a:latin typeface="Arial"/>
              </a:defRPr>
            </a:pPr>
            <a:r>
              <a:t>• Tracks adjuster status in real-time</a:t>
            </a:r>
          </a:p>
          <a:p>
            <a:pPr>
              <a:spcAft>
                <a:spcPts val="600"/>
              </a:spcAft>
              <a:defRPr sz="1200">
                <a:solidFill>
                  <a:srgbClr val="94A3B8"/>
                </a:solidFill>
                <a:latin typeface="Arial"/>
              </a:defRPr>
            </a:pPr>
            <a:r>
              <a:t>• Downloads wire settlement slips</a:t>
            </a:r>
          </a:p>
        </p:txBody>
      </p:sp>
      <p:sp>
        <p:nvSpPr>
          <p:cNvPr id="7" name="Rounded Rectangle 6"/>
          <p:cNvSpPr/>
          <p:nvPr/>
        </p:nvSpPr>
        <p:spPr>
          <a:xfrm>
            <a:off x="3474720" y="2194560"/>
            <a:ext cx="2468880" cy="40233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4D399"/>
                </a:solidFill>
                <a:latin typeface="Arial"/>
              </a:defRPr>
            </a:pPr>
            <a:r>
              <a:t>📋 Underwriter</a:t>
            </a:r>
          </a:p>
          <a:p>
            <a:pPr>
              <a:spcAft>
                <a:spcPts val="600"/>
              </a:spcAft>
              <a:defRPr sz="1200">
                <a:solidFill>
                  <a:srgbClr val="94A3B8"/>
                </a:solidFill>
                <a:latin typeface="Arial"/>
              </a:defRPr>
            </a:pPr>
            <a:r>
              <a:t>• Provisions policy contracts</a:t>
            </a:r>
          </a:p>
          <a:p>
            <a:pPr>
              <a:spcAft>
                <a:spcPts val="600"/>
              </a:spcAft>
              <a:defRPr sz="1200">
                <a:solidFill>
                  <a:srgbClr val="94A3B8"/>
                </a:solidFill>
                <a:latin typeface="Arial"/>
              </a:defRPr>
            </a:pPr>
            <a:r>
              <a:t>• Calibrates actuarial hazard factors</a:t>
            </a:r>
          </a:p>
          <a:p>
            <a:pPr>
              <a:spcAft>
                <a:spcPts val="600"/>
              </a:spcAft>
              <a:defRPr sz="1200">
                <a:solidFill>
                  <a:srgbClr val="94A3B8"/>
                </a:solidFill>
                <a:latin typeface="Arial"/>
              </a:defRPr>
            </a:pPr>
            <a:r>
              <a:t>• Computes rate multipliers (0-100)</a:t>
            </a:r>
          </a:p>
          <a:p>
            <a:pPr>
              <a:spcAft>
                <a:spcPts val="600"/>
              </a:spcAft>
              <a:defRPr sz="1200">
                <a:solidFill>
                  <a:srgbClr val="94A3B8"/>
                </a:solidFill>
                <a:latin typeface="Arial"/>
              </a:defRPr>
            </a:pPr>
            <a:r>
              <a:t>• Activates verified policies</a:t>
            </a:r>
          </a:p>
        </p:txBody>
      </p:sp>
      <p:sp>
        <p:nvSpPr>
          <p:cNvPr id="8" name="Rounded Rectangle 7"/>
          <p:cNvSpPr/>
          <p:nvPr/>
        </p:nvSpPr>
        <p:spPr>
          <a:xfrm>
            <a:off x="6217920" y="2194560"/>
            <a:ext cx="2468880" cy="402336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FBBF24"/>
                </a:solidFill>
                <a:latin typeface="Arial"/>
              </a:defRPr>
            </a:pPr>
            <a:r>
              <a:t>🔍 Claims Adjuster</a:t>
            </a:r>
          </a:p>
          <a:p>
            <a:pPr>
              <a:spcAft>
                <a:spcPts val="600"/>
              </a:spcAft>
              <a:defRPr sz="1200">
                <a:solidFill>
                  <a:srgbClr val="94A3B8"/>
                </a:solidFill>
                <a:latin typeface="Arial"/>
              </a:defRPr>
            </a:pPr>
            <a:r>
              <a:t>• Inspects loss incident notices</a:t>
            </a:r>
          </a:p>
          <a:p>
            <a:pPr>
              <a:spcAft>
                <a:spcPts val="600"/>
              </a:spcAft>
              <a:defRPr sz="1200">
                <a:solidFill>
                  <a:srgbClr val="94A3B8"/>
                </a:solidFill>
                <a:latin typeface="Arial"/>
              </a:defRPr>
            </a:pPr>
            <a:r>
              <a:t>• Verifies contractor invoices</a:t>
            </a:r>
          </a:p>
          <a:p>
            <a:pPr>
              <a:spcAft>
                <a:spcPts val="600"/>
              </a:spcAft>
              <a:defRPr sz="1200">
                <a:solidFill>
                  <a:srgbClr val="94A3B8"/>
                </a:solidFill>
                <a:latin typeface="Arial"/>
              </a:defRPr>
            </a:pPr>
            <a:r>
              <a:t>• Attaches audit documentation</a:t>
            </a:r>
          </a:p>
          <a:p>
            <a:pPr>
              <a:spcAft>
                <a:spcPts val="600"/>
              </a:spcAft>
              <a:defRPr sz="1200">
                <a:solidFill>
                  <a:srgbClr val="94A3B8"/>
                </a:solidFill>
                <a:latin typeface="Arial"/>
              </a:defRPr>
            </a:pPr>
            <a:r>
              <a:t>• Submits approval recommendation</a:t>
            </a:r>
          </a:p>
        </p:txBody>
      </p:sp>
      <p:sp>
        <p:nvSpPr>
          <p:cNvPr id="9" name="Rounded Rectangle 8"/>
          <p:cNvSpPr/>
          <p:nvPr/>
        </p:nvSpPr>
        <p:spPr>
          <a:xfrm>
            <a:off x="8961120" y="2194560"/>
            <a:ext cx="2468880" cy="4023360"/>
          </a:xfrm>
          <a:prstGeom prst="roundRect">
            <a:avLst/>
          </a:prstGeom>
          <a:solidFill>
            <a:srgbClr val="1E293B"/>
          </a:solidFill>
          <a:ln w="1905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FB7185"/>
                </a:solidFill>
                <a:latin typeface="Arial"/>
              </a:defRPr>
            </a:pPr>
            <a:r>
              <a:t>⚡ Manager</a:t>
            </a:r>
          </a:p>
          <a:p>
            <a:pPr>
              <a:spcAft>
                <a:spcPts val="600"/>
              </a:spcAft>
              <a:defRPr sz="1200">
                <a:solidFill>
                  <a:srgbClr val="94A3B8"/>
                </a:solidFill>
                <a:latin typeface="Arial"/>
              </a:defRPr>
            </a:pPr>
            <a:r>
              <a:t>• Executes concurrency adjudication</a:t>
            </a:r>
          </a:p>
          <a:p>
            <a:pPr>
              <a:spcAft>
                <a:spcPts val="600"/>
              </a:spcAft>
              <a:defRPr sz="1200">
                <a:solidFill>
                  <a:srgbClr val="94A3B8"/>
                </a:solidFill>
                <a:latin typeface="Arial"/>
              </a:defRPr>
            </a:pPr>
            <a:r>
              <a:t>• Locks &amp; deducts policy limits</a:t>
            </a:r>
          </a:p>
          <a:p>
            <a:pPr>
              <a:spcAft>
                <a:spcPts val="600"/>
              </a:spcAft>
              <a:defRPr sz="1200">
                <a:solidFill>
                  <a:srgbClr val="94A3B8"/>
                </a:solidFill>
                <a:latin typeface="Arial"/>
              </a:defRPr>
            </a:pPr>
            <a:r>
              <a:t>• Executes ACH electronic wire payout</a:t>
            </a:r>
          </a:p>
          <a:p>
            <a:pPr>
              <a:spcAft>
                <a:spcPts val="600"/>
              </a:spcAft>
              <a:defRPr sz="1200">
                <a:solidFill>
                  <a:srgbClr val="94A3B8"/>
                </a:solidFill>
                <a:latin typeface="Arial"/>
              </a:defRPr>
            </a:pPr>
            <a:r>
              <a:t>• Monitors platform loss ratios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a:spAutoFit/>
          </a:bodyPr>
          <a:lstStyle/>
          <a:p>
            <a:pPr>
              <a:defRPr sz="1100" b="1">
                <a:solidFill>
                  <a:srgbClr val="38BDF8"/>
                </a:solidFill>
                <a:latin typeface="Arial"/>
              </a:defRPr>
            </a:pPr>
            <a:r>
              <a:t>  KEY FEATURES  </a:t>
            </a:r>
          </a:p>
        </p:txBody>
      </p:sp>
      <p:sp>
        <p:nvSpPr>
          <p:cNvPr id="4" name="TextBox 3"/>
          <p:cNvSpPr txBox="1"/>
          <p:nvPr/>
        </p:nvSpPr>
        <p:spPr>
          <a:xfrm>
            <a:off x="731520" y="777240"/>
            <a:ext cx="10698480" cy="731520"/>
          </a:xfrm>
          <a:prstGeom prst="rect">
            <a:avLst/>
          </a:prstGeom>
          <a:noFill/>
        </p:spPr>
        <p:txBody>
          <a:bodyPr wrap="square">
            <a:spAutoFit/>
          </a:bodyPr>
          <a:lstStyle/>
          <a:p>
            <a:pPr>
              <a:defRPr sz="2800" b="1">
                <a:solidFill>
                  <a:srgbClr val="F8FAFC"/>
                </a:solidFill>
                <a:latin typeface="Arial"/>
              </a:defRPr>
            </a:pPr>
            <a:r>
              <a:t>Interactive Capabilities &amp; Live Tracking</a:t>
            </a:r>
          </a:p>
        </p:txBody>
      </p:sp>
      <p:sp>
        <p:nvSpPr>
          <p:cNvPr id="5" name="TextBox 4"/>
          <p:cNvSpPr txBox="1"/>
          <p:nvPr/>
        </p:nvSpPr>
        <p:spPr>
          <a:xfrm>
            <a:off x="731520" y="1463040"/>
            <a:ext cx="10698480" cy="548640"/>
          </a:xfrm>
          <a:prstGeom prst="rect">
            <a:avLst/>
          </a:prstGeom>
          <a:noFill/>
        </p:spPr>
        <p:txBody>
          <a:bodyPr wrap="square">
            <a:spAutoFit/>
          </a:bodyPr>
          <a:lstStyle/>
          <a:p>
            <a:pPr>
              <a:defRPr sz="1400">
                <a:solidFill>
                  <a:srgbClr val="94A3B8"/>
                </a:solidFill>
                <a:latin typeface="Arial"/>
              </a:defRPr>
            </a:pPr>
            <a:r>
              <a:t>Delivering unprecedented speed, transparency, and operational control.</a:t>
            </a:r>
          </a:p>
        </p:txBody>
      </p:sp>
      <p:sp>
        <p:nvSpPr>
          <p:cNvPr id="6" name="Rounded Rectangle 5"/>
          <p:cNvSpPr/>
          <p:nvPr/>
        </p:nvSpPr>
        <p:spPr>
          <a:xfrm>
            <a:off x="731520" y="2194560"/>
            <a:ext cx="3291840" cy="40233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8BDF8"/>
                </a:solidFill>
                <a:latin typeface="Arial"/>
              </a:defRPr>
            </a:pPr>
            <a:r>
              <a:t>🎯 Public Real-Time Tracker</a:t>
            </a:r>
          </a:p>
          <a:p>
            <a:pPr>
              <a:spcAft>
                <a:spcPts val="600"/>
              </a:spcAft>
              <a:defRPr sz="1200">
                <a:solidFill>
                  <a:srgbClr val="94A3B8"/>
                </a:solidFill>
                <a:latin typeface="Arial"/>
              </a:defRPr>
            </a:pPr>
            <a:r>
              <a:t>• Dedicated permit-all endpoint (/api/v1/public/track)</a:t>
            </a:r>
          </a:p>
          <a:p>
            <a:pPr>
              <a:spcAft>
                <a:spcPts val="600"/>
              </a:spcAft>
              <a:defRPr sz="1200">
                <a:solidFill>
                  <a:srgbClr val="94A3B8"/>
                </a:solidFill>
                <a:latin typeface="Arial"/>
              </a:defRPr>
            </a:pPr>
            <a:r>
              <a:t>• Instant policy limit and claim status tracking</a:t>
            </a:r>
          </a:p>
          <a:p>
            <a:pPr>
              <a:spcAft>
                <a:spcPts val="600"/>
              </a:spcAft>
              <a:defRPr sz="1200">
                <a:solidFill>
                  <a:srgbClr val="94A3B8"/>
                </a:solidFill>
                <a:latin typeface="Arial"/>
              </a:defRPr>
            </a:pPr>
            <a:r>
              <a:t>• Allows guest visitors and holders to track anytime</a:t>
            </a:r>
          </a:p>
          <a:p>
            <a:pPr>
              <a:spcAft>
                <a:spcPts val="600"/>
              </a:spcAft>
              <a:defRPr sz="1200">
                <a:solidFill>
                  <a:srgbClr val="94A3B8"/>
                </a:solidFill>
                <a:latin typeface="Arial"/>
              </a:defRPr>
            </a:pPr>
            <a:r>
              <a:t>• Masks personal identifiable info (PII) for privacy</a:t>
            </a:r>
          </a:p>
          <a:p>
            <a:pPr>
              <a:spcAft>
                <a:spcPts val="600"/>
              </a:spcAft>
              <a:defRPr sz="1200">
                <a:solidFill>
                  <a:srgbClr val="94A3B8"/>
                </a:solidFill>
                <a:latin typeface="Arial"/>
              </a:defRPr>
            </a:pPr>
            <a:r>
              <a:t>• Sample 1-click tracking buttons (POL-100200, CLM-8492)</a:t>
            </a:r>
          </a:p>
        </p:txBody>
      </p:sp>
      <p:sp>
        <p:nvSpPr>
          <p:cNvPr id="7" name="Rounded Rectangle 6"/>
          <p:cNvSpPr/>
          <p:nvPr/>
        </p:nvSpPr>
        <p:spPr>
          <a:xfrm>
            <a:off x="4443984" y="2194560"/>
            <a:ext cx="3291840" cy="402336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FBBF24"/>
                </a:solidFill>
                <a:latin typeface="Arial"/>
              </a:defRPr>
            </a:pPr>
            <a:r>
              <a:t>📊 Actuarial Risk Gauge</a:t>
            </a:r>
          </a:p>
          <a:p>
            <a:pPr>
              <a:spcAft>
                <a:spcPts val="600"/>
              </a:spcAft>
              <a:defRPr sz="1200">
                <a:solidFill>
                  <a:srgbClr val="94A3B8"/>
                </a:solidFill>
                <a:latin typeface="Arial"/>
              </a:defRPr>
            </a:pPr>
            <a:r>
              <a:t>• Interactive factor calibration (Age, Asset, Hazards)</a:t>
            </a:r>
          </a:p>
          <a:p>
            <a:pPr>
              <a:spcAft>
                <a:spcPts val="600"/>
              </a:spcAft>
              <a:defRPr sz="1200">
                <a:solidFill>
                  <a:srgbClr val="94A3B8"/>
                </a:solidFill>
                <a:latin typeface="Arial"/>
              </a:defRPr>
            </a:pPr>
            <a:r>
              <a:t>• Computes quantitative risk score (0-100 index)</a:t>
            </a:r>
          </a:p>
          <a:p>
            <a:pPr>
              <a:spcAft>
                <a:spcPts val="600"/>
              </a:spcAft>
              <a:defRPr sz="1200">
                <a:solidFill>
                  <a:srgbClr val="94A3B8"/>
                </a:solidFill>
                <a:latin typeface="Arial"/>
              </a:defRPr>
            </a:pPr>
            <a:r>
              <a:t>• Dynamic risk tier classification (LOW/MED/HIGH)</a:t>
            </a:r>
          </a:p>
          <a:p>
            <a:pPr>
              <a:spcAft>
                <a:spcPts val="600"/>
              </a:spcAft>
              <a:defRPr sz="1200">
                <a:solidFill>
                  <a:srgbClr val="94A3B8"/>
                </a:solidFill>
                <a:latin typeface="Arial"/>
              </a:defRPr>
            </a:pPr>
            <a:r>
              <a:t>• Auto-calculates recommended premium multipliers</a:t>
            </a:r>
          </a:p>
          <a:p>
            <a:pPr>
              <a:spcAft>
                <a:spcPts val="600"/>
              </a:spcAft>
              <a:defRPr sz="1200">
                <a:solidFill>
                  <a:srgbClr val="94A3B8"/>
                </a:solidFill>
                <a:latin typeface="Arial"/>
              </a:defRPr>
            </a:pPr>
            <a:r>
              <a:t>• Attaches permanent risk evaluation to policy</a:t>
            </a:r>
          </a:p>
        </p:txBody>
      </p:sp>
      <p:sp>
        <p:nvSpPr>
          <p:cNvPr id="8" name="Rounded Rectangle 7"/>
          <p:cNvSpPr/>
          <p:nvPr/>
        </p:nvSpPr>
        <p:spPr>
          <a:xfrm>
            <a:off x="7982712" y="2194560"/>
            <a:ext cx="3291840" cy="40233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4D399"/>
                </a:solidFill>
                <a:latin typeface="Arial"/>
              </a:defRPr>
            </a:pPr>
            <a:r>
              <a:t>🧾 Electronic Wire Slips</a:t>
            </a:r>
          </a:p>
          <a:p>
            <a:pPr>
              <a:spcAft>
                <a:spcPts val="600"/>
              </a:spcAft>
              <a:defRPr sz="1200">
                <a:solidFill>
                  <a:srgbClr val="94A3B8"/>
                </a:solidFill>
                <a:latin typeface="Arial"/>
              </a:defRPr>
            </a:pPr>
            <a:r>
              <a:t>• Automated generation of printable wire receipts</a:t>
            </a:r>
          </a:p>
          <a:p>
            <a:pPr>
              <a:spcAft>
                <a:spcPts val="600"/>
              </a:spcAft>
              <a:defRPr sz="1200">
                <a:solidFill>
                  <a:srgbClr val="94A3B8"/>
                </a:solidFill>
                <a:latin typeface="Arial"/>
              </a:defRPr>
            </a:pPr>
            <a:r>
              <a:t>• Unique cryptographic transaction hash</a:t>
            </a:r>
          </a:p>
          <a:p>
            <a:pPr>
              <a:spcAft>
                <a:spcPts val="600"/>
              </a:spcAft>
              <a:defRPr sz="1200">
                <a:solidFill>
                  <a:srgbClr val="94A3B8"/>
                </a:solidFill>
                <a:latin typeface="Arial"/>
              </a:defRPr>
            </a:pPr>
            <a:r>
              <a:t>• ACH clearance routing &amp; masked bank account info</a:t>
            </a:r>
          </a:p>
          <a:p>
            <a:pPr>
              <a:spcAft>
                <a:spcPts val="600"/>
              </a:spcAft>
              <a:defRPr sz="1200">
                <a:solidFill>
                  <a:srgbClr val="94A3B8"/>
                </a:solidFill>
                <a:latin typeface="Arial"/>
              </a:defRPr>
            </a:pPr>
            <a:r>
              <a:t>• Canvas confetti celebration on completion</a:t>
            </a:r>
          </a:p>
          <a:p>
            <a:pPr>
              <a:spcAft>
                <a:spcPts val="600"/>
              </a:spcAft>
              <a:defRPr sz="1200">
                <a:solidFill>
                  <a:srgbClr val="94A3B8"/>
                </a:solidFill>
                <a:latin typeface="Arial"/>
              </a:defRPr>
            </a:pPr>
            <a:r>
              <a:t>• Comprehensive audit trail for compliance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a:spAutoFit/>
          </a:bodyPr>
          <a:lstStyle/>
          <a:p>
            <a:pPr>
              <a:defRPr sz="1100" b="1">
                <a:solidFill>
                  <a:srgbClr val="38BDF8"/>
                </a:solidFill>
                <a:latin typeface="Arial"/>
              </a:defRPr>
            </a:pPr>
            <a:r>
              <a:t>  BUSINESS VALUE &amp; FUTURE SCOPE  </a:t>
            </a:r>
          </a:p>
        </p:txBody>
      </p:sp>
      <p:sp>
        <p:nvSpPr>
          <p:cNvPr id="4" name="TextBox 3"/>
          <p:cNvSpPr txBox="1"/>
          <p:nvPr/>
        </p:nvSpPr>
        <p:spPr>
          <a:xfrm>
            <a:off x="731520" y="777240"/>
            <a:ext cx="10698480" cy="731520"/>
          </a:xfrm>
          <a:prstGeom prst="rect">
            <a:avLst/>
          </a:prstGeom>
          <a:noFill/>
        </p:spPr>
        <p:txBody>
          <a:bodyPr wrap="square">
            <a:spAutoFit/>
          </a:bodyPr>
          <a:lstStyle/>
          <a:p>
            <a:pPr>
              <a:defRPr sz="2800" b="1">
                <a:solidFill>
                  <a:srgbClr val="F8FAFC"/>
                </a:solidFill>
                <a:latin typeface="Arial"/>
              </a:defRPr>
            </a:pPr>
            <a:r>
              <a:t>Proven Value &amp; Scalability Roadmap</a:t>
            </a:r>
          </a:p>
        </p:txBody>
      </p:sp>
      <p:sp>
        <p:nvSpPr>
          <p:cNvPr id="5" name="TextBox 4"/>
          <p:cNvSpPr txBox="1"/>
          <p:nvPr/>
        </p:nvSpPr>
        <p:spPr>
          <a:xfrm>
            <a:off x="731520" y="1463040"/>
            <a:ext cx="10698480" cy="548640"/>
          </a:xfrm>
          <a:prstGeom prst="rect">
            <a:avLst/>
          </a:prstGeom>
          <a:noFill/>
        </p:spPr>
        <p:txBody>
          <a:bodyPr wrap="square">
            <a:spAutoFit/>
          </a:bodyPr>
          <a:lstStyle/>
          <a:p>
            <a:pPr>
              <a:defRPr sz="1400">
                <a:solidFill>
                  <a:srgbClr val="94A3B8"/>
                </a:solidFill>
                <a:latin typeface="Arial"/>
              </a:defRPr>
            </a:pPr>
            <a:r>
              <a:t>Transforming operational efficiency with a clear path for future innovation.</a:t>
            </a:r>
          </a:p>
        </p:txBody>
      </p:sp>
      <p:sp>
        <p:nvSpPr>
          <p:cNvPr id="6" name="Rounded Rectangle 5"/>
          <p:cNvSpPr/>
          <p:nvPr/>
        </p:nvSpPr>
        <p:spPr>
          <a:xfrm>
            <a:off x="731520" y="2194560"/>
            <a:ext cx="5120640" cy="40233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4D399"/>
                </a:solidFill>
                <a:latin typeface="Arial"/>
              </a:defRPr>
            </a:pPr>
            <a:r>
              <a:t>📈 Measurable Business Impact</a:t>
            </a:r>
          </a:p>
          <a:p>
            <a:pPr>
              <a:spcAft>
                <a:spcPts val="600"/>
              </a:spcAft>
              <a:defRPr sz="1200">
                <a:solidFill>
                  <a:srgbClr val="94A3B8"/>
                </a:solidFill>
                <a:latin typeface="Arial"/>
              </a:defRPr>
            </a:pPr>
            <a:r>
              <a:t>• 70% Faster Settlements: End-to-end digital lifecycle reduces claim turnaround from 30 days to minutes.</a:t>
            </a:r>
          </a:p>
          <a:p>
            <a:pPr>
              <a:spcAft>
                <a:spcPts val="600"/>
              </a:spcAft>
              <a:defRPr sz="1200">
                <a:solidFill>
                  <a:srgbClr val="94A3B8"/>
                </a:solidFill>
                <a:latin typeface="Arial"/>
              </a:defRPr>
            </a:pPr>
            <a:r>
              <a:t>• 100% Zero-Overdraw Guarantee: Eliminates insurer financial leakage via pessimistic concurrency locks.</a:t>
            </a:r>
          </a:p>
          <a:p>
            <a:pPr>
              <a:spcAft>
                <a:spcPts val="600"/>
              </a:spcAft>
              <a:defRPr sz="1200">
                <a:solidFill>
                  <a:srgbClr val="94A3B8"/>
                </a:solidFill>
                <a:latin typeface="Arial"/>
              </a:defRPr>
            </a:pPr>
            <a:r>
              <a:t>• Real-Time Exposure Visibility: Actuarial loss ratio gauge prevents insurer insolvency.</a:t>
            </a:r>
          </a:p>
          <a:p>
            <a:pPr>
              <a:spcAft>
                <a:spcPts val="600"/>
              </a:spcAft>
              <a:defRPr sz="1200">
                <a:solidFill>
                  <a:srgbClr val="94A3B8"/>
                </a:solidFill>
                <a:latin typeface="Arial"/>
              </a:defRPr>
            </a:pPr>
            <a:r>
              <a:t>• Enhanced Trust: Real-time public tracking improves policyholder Net Promoter Score (NPS).</a:t>
            </a:r>
          </a:p>
        </p:txBody>
      </p:sp>
      <p:sp>
        <p:nvSpPr>
          <p:cNvPr id="7" name="Rounded Rectangle 6"/>
          <p:cNvSpPr/>
          <p:nvPr/>
        </p:nvSpPr>
        <p:spPr>
          <a:xfrm>
            <a:off x="6309360" y="2194560"/>
            <a:ext cx="5120640" cy="40233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spcAft>
                <a:spcPts val="1000"/>
              </a:spcAft>
              <a:defRPr sz="1600" b="1">
                <a:solidFill>
                  <a:srgbClr val="38BDF8"/>
                </a:solidFill>
                <a:latin typeface="Arial"/>
              </a:defRPr>
            </a:pPr>
            <a:r>
              <a:t>🚀 Future Innovation Roadmap</a:t>
            </a:r>
          </a:p>
          <a:p>
            <a:pPr>
              <a:spcAft>
                <a:spcPts val="600"/>
              </a:spcAft>
              <a:defRPr sz="1200">
                <a:solidFill>
                  <a:srgbClr val="94A3B8"/>
                </a:solidFill>
                <a:latin typeface="Arial"/>
              </a:defRPr>
            </a:pPr>
            <a:r>
              <a:t>• AI Vision OCR: Automatic extraction of damaged parts from accident photos &amp; hospital bills.</a:t>
            </a:r>
          </a:p>
          <a:p>
            <a:pPr>
              <a:spcAft>
                <a:spcPts val="600"/>
              </a:spcAft>
              <a:defRPr sz="1200">
                <a:solidFill>
                  <a:srgbClr val="94A3B8"/>
                </a:solidFill>
                <a:latin typeface="Arial"/>
              </a:defRPr>
            </a:pPr>
            <a:r>
              <a:t>• Blockchain Smart Contracts: Decentralized immutable claim adjudication on Ethereum/Polygon.</a:t>
            </a:r>
          </a:p>
          <a:p>
            <a:pPr>
              <a:spcAft>
                <a:spcPts val="600"/>
              </a:spcAft>
              <a:defRPr sz="1200">
                <a:solidFill>
                  <a:srgbClr val="94A3B8"/>
                </a:solidFill>
                <a:latin typeface="Arial"/>
              </a:defRPr>
            </a:pPr>
            <a:r>
              <a:t>• IoT Telematics Integration: Usage-based commercial fleet insurance with dynamic risk premiums.</a:t>
            </a:r>
          </a:p>
          <a:p>
            <a:pPr>
              <a:spcAft>
                <a:spcPts val="600"/>
              </a:spcAft>
              <a:defRPr sz="1200">
                <a:solidFill>
                  <a:srgbClr val="94A3B8"/>
                </a:solidFill>
                <a:latin typeface="Arial"/>
              </a:defRPr>
            </a:pPr>
            <a:r>
              <a:t>• Mobile App: Native iOS and Android apps with biometric claim approvals.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